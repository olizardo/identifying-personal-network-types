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 Slab"/>
      <p:regular r:id="rId21"/>
      <p:bold r:id="rId22"/>
    </p:embeddedFon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Slab-bold.fntdata"/><Relationship Id="rId21" Type="http://schemas.openxmlformats.org/officeDocument/2006/relationships/font" Target="fonts/RobotoSlab-regular.fntdata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50de08d82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50de08d82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0de08d82d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0de08d82d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50de08d82d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50de08d82d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0de08d82d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0de08d82d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50de08d82d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50de08d82d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50de08d82d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50de08d82d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55f27061f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55f27061f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55f27061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55f27061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5f27061f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5f27061f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57bd1f5dd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57bd1f5dd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57bd1f5dd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57bd1f5dd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57bd1f5d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57bd1f5d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57bd1f5dd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57bd1f5dd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57bd1f5dd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57bd1f5dd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Egocentric Network Typologies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Bases for Research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NetHealth Data</a:t>
            </a:r>
            <a:endParaRPr/>
          </a:p>
        </p:txBody>
      </p:sp>
      <p:sp>
        <p:nvSpPr>
          <p:cNvPr id="65" name="Google Shape;65;p13"/>
          <p:cNvSpPr txBox="1"/>
          <p:nvPr/>
        </p:nvSpPr>
        <p:spPr>
          <a:xfrm>
            <a:off x="92625" y="4390650"/>
            <a:ext cx="31446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Matthew J. Chandler</a:t>
            </a:r>
            <a:endParaRPr b="1"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April 4, 2019</a:t>
            </a:r>
            <a:endParaRPr b="1"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Themes and Questions </a:t>
            </a:r>
            <a:r>
              <a:rPr lang="en" sz="1800"/>
              <a:t>(1 of 2)</a:t>
            </a:r>
            <a:endParaRPr sz="1800"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6900" y="1489825"/>
            <a:ext cx="4392600" cy="3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Ego Characteristics</a:t>
            </a:r>
            <a:endParaRPr b="1" sz="1600"/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What types of people have low/high degree?</a:t>
            </a:r>
            <a:endParaRPr sz="1300"/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Why do most people have homophilous ties?</a:t>
            </a:r>
            <a:endParaRPr sz="1300"/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What kind of person has heterophilous ties?</a:t>
            </a:r>
            <a:endParaRPr sz="1300"/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What types of people have strong/weak ties?</a:t>
            </a:r>
            <a:endParaRPr sz="1300"/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What difference does it make to know lots of different people who don’t know each other?</a:t>
            </a:r>
            <a:endParaRPr sz="1300"/>
          </a:p>
          <a:p>
            <a:pPr indent="-311150" lvl="1" marL="914400" rtl="0" algn="l">
              <a:spcBef>
                <a:spcPts val="1000"/>
              </a:spcBef>
              <a:spcAft>
                <a:spcPts val="1000"/>
              </a:spcAft>
              <a:buSzPts val="1300"/>
              <a:buChar char="○"/>
            </a:pPr>
            <a:r>
              <a:rPr lang="en" sz="1300"/>
              <a:t>What types of positions have similar local network structures?</a:t>
            </a:r>
            <a:endParaRPr sz="1300"/>
          </a:p>
        </p:txBody>
      </p:sp>
      <p:sp>
        <p:nvSpPr>
          <p:cNvPr id="72" name="Google Shape;72;p14"/>
          <p:cNvSpPr txBox="1"/>
          <p:nvPr>
            <p:ph idx="2" type="body"/>
          </p:nvPr>
        </p:nvSpPr>
        <p:spPr>
          <a:xfrm>
            <a:off x="4383475" y="1489825"/>
            <a:ext cx="4448700" cy="32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Social Capital and Class</a:t>
            </a:r>
            <a:endParaRPr b="1" sz="1600"/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What types of people are central/peripheral?</a:t>
            </a:r>
            <a:endParaRPr sz="1300"/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What types of people bridge structural holes?</a:t>
            </a:r>
            <a:endParaRPr sz="1300"/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What types of network positions give power/wealth advantages?</a:t>
            </a:r>
            <a:endParaRPr sz="1300"/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What types of local network structures correspond with vibrant civil society and democratic development?</a:t>
            </a:r>
            <a:endParaRPr sz="1300"/>
          </a:p>
          <a:p>
            <a:pPr indent="-311150" lvl="1" marL="914400" rtl="0" algn="l">
              <a:spcBef>
                <a:spcPts val="1000"/>
              </a:spcBef>
              <a:spcAft>
                <a:spcPts val="1000"/>
              </a:spcAft>
              <a:buSzPts val="1300"/>
              <a:buChar char="○"/>
            </a:pPr>
            <a:r>
              <a:rPr lang="en" sz="1300"/>
              <a:t>Can prosocial outcomes be cultivated? How?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</a:t>
            </a:r>
            <a:r>
              <a:rPr lang="en"/>
              <a:t>Themes and Questions </a:t>
            </a:r>
            <a:r>
              <a:rPr lang="en" sz="1800"/>
              <a:t>(2 of 2)</a:t>
            </a:r>
            <a:endParaRPr sz="1800"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0" y="1489825"/>
            <a:ext cx="4422000" cy="3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Tie Characteristics</a:t>
            </a:r>
            <a:endParaRPr b="1" sz="1600"/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How many close/distant relationships can people maintain?</a:t>
            </a:r>
            <a:endParaRPr sz="1300"/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What shapes the formation of different types of relationships?</a:t>
            </a:r>
            <a:endParaRPr sz="1300"/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How long do different types of ties last?</a:t>
            </a:r>
            <a:endParaRPr sz="1300"/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What makes a tie stronger/weaker?</a:t>
            </a:r>
            <a:endParaRPr sz="1300"/>
          </a:p>
          <a:p>
            <a:pPr indent="-311150" lvl="1" marL="914400" rtl="0" algn="l">
              <a:spcBef>
                <a:spcPts val="1000"/>
              </a:spcBef>
              <a:spcAft>
                <a:spcPts val="1000"/>
              </a:spcAft>
              <a:buSzPts val="1300"/>
              <a:buChar char="○"/>
            </a:pPr>
            <a:r>
              <a:rPr lang="en" sz="1300"/>
              <a:t>Are embedded ties stronger &amp; longer-lasting?</a:t>
            </a:r>
            <a:endParaRPr sz="1300"/>
          </a:p>
        </p:txBody>
      </p:sp>
      <p:sp>
        <p:nvSpPr>
          <p:cNvPr id="79" name="Google Shape;79;p15"/>
          <p:cNvSpPr txBox="1"/>
          <p:nvPr>
            <p:ph idx="2" type="body"/>
          </p:nvPr>
        </p:nvSpPr>
        <p:spPr>
          <a:xfrm>
            <a:off x="4383475" y="1489825"/>
            <a:ext cx="4448700" cy="32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Influence and Diffusion</a:t>
            </a:r>
            <a:endParaRPr b="1" sz="1600"/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What types of ties/alters are most influential?</a:t>
            </a:r>
            <a:endParaRPr sz="1300"/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Are there universal structures that form in various types of networks? How?</a:t>
            </a:r>
            <a:endParaRPr sz="1300"/>
          </a:p>
          <a:p>
            <a:pPr indent="-311150" lvl="1" marL="914400" rtl="0" algn="l"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Which structures are susceptible/resistant to diffusion of different types of contagions?</a:t>
            </a:r>
            <a:endParaRPr sz="1300"/>
          </a:p>
          <a:p>
            <a:pPr indent="-311150" lvl="1" marL="914400" rtl="0" algn="l">
              <a:spcBef>
                <a:spcPts val="1000"/>
              </a:spcBef>
              <a:spcAft>
                <a:spcPts val="1000"/>
              </a:spcAft>
              <a:buSzPts val="1300"/>
              <a:buChar char="○"/>
            </a:pPr>
            <a:r>
              <a:rPr lang="en" sz="1300"/>
              <a:t>What types of interventions can limit negative diffusion or encourage positive diffusion?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Recent Research on Egocentric Network Typologies</a:t>
            </a:r>
            <a:endParaRPr sz="2400"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87900" y="1489825"/>
            <a:ext cx="4063200" cy="34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Relationship-Based Typologies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 sz="1200"/>
              <a:t>Driven by life course and social support research.</a:t>
            </a:r>
            <a:endParaRPr i="1" sz="12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Convoy Model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Antonucci, Ajrouch, &amp; Birditt (2013)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Huxhold, Fiori, &amp; Windsor (2012)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UCNets Data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>
                <a:highlight>
                  <a:schemeClr val="accent5"/>
                </a:highlight>
              </a:rPr>
              <a:t>Giannella &amp; Fischer (2016)</a:t>
            </a:r>
            <a:endParaRPr>
              <a:highlight>
                <a:schemeClr val="accent5"/>
              </a:highlight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Offer &amp; Fischer (2018)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Related research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i="1" lang="en"/>
              <a:t>Social Networks and the Life Course</a:t>
            </a:r>
            <a:r>
              <a:rPr lang="en"/>
              <a:t> (2018) edited volume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Especially: Youm, Laumann, &amp; Lee (2018)</a:t>
            </a:r>
            <a:endParaRPr/>
          </a:p>
        </p:txBody>
      </p:sp>
      <p:sp>
        <p:nvSpPr>
          <p:cNvPr id="86" name="Google Shape;86;p16"/>
          <p:cNvSpPr txBox="1"/>
          <p:nvPr>
            <p:ph idx="2" type="body"/>
          </p:nvPr>
        </p:nvSpPr>
        <p:spPr>
          <a:xfrm>
            <a:off x="4756200" y="1489825"/>
            <a:ext cx="3999900" cy="32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Structural Typology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 sz="1200"/>
              <a:t>Developed from longitudinal study of young adults.</a:t>
            </a:r>
            <a:endParaRPr i="1" sz="12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Inductive Typology of Personal Networks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>
                <a:highlight>
                  <a:schemeClr val="accent5"/>
                </a:highlight>
              </a:rPr>
              <a:t>Bidart, Degenne, &amp; Grossetti (2018)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Related recent research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Brashears &amp; Quintane (2018)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McFarland, et al. (2014)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Small (2017)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Related older research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Structural equivalence &amp; blockmodeling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Opportunities with NetHealth Data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Advantages</a:t>
            </a:r>
            <a:endParaRPr b="1" sz="16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Long duration with dense observations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Multiple measures of egocentric networks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Whole network data for in-study ties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Extensive attributes for all ties and alters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Can tackle both relationship and structural typologies with unprecedented depth</a:t>
            </a:r>
            <a:endParaRPr i="1"/>
          </a:p>
        </p:txBody>
      </p:sp>
      <p:sp>
        <p:nvSpPr>
          <p:cNvPr id="93" name="Google Shape;93;p17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Potential Impact</a:t>
            </a:r>
            <a:endParaRPr b="1" sz="16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Ascertain the relative salience of different egocentric network typologies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Develop an integrated typology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Add robustness to inductive methods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Link egocentric network types to health qualities and behavioral dynamics</a:t>
            </a:r>
            <a:endParaRPr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Explorations To-Date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489825"/>
            <a:ext cx="4188300" cy="32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Tie Strength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Cross-tabs on closeness, frequency, duration, relationship type, support type, etc.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Linked to communication over prior 90 days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Degree Dynamics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Clustering trajectories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Predicting with personality metrics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Relationality / Schematic Distance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Initially to explore tie strength and homophily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Led into critique of Goldberg and a deep dive into the robustness of clustering techniques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Lattice Analysis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Initially to mine nominal data (e.g., activities)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Led to new algorithm, with wider applications</a:t>
            </a:r>
            <a:endParaRPr/>
          </a:p>
        </p:txBody>
      </p:sp>
      <p:sp>
        <p:nvSpPr>
          <p:cNvPr id="100" name="Google Shape;100;p18"/>
          <p:cNvSpPr txBox="1"/>
          <p:nvPr>
            <p:ph idx="2" type="body"/>
          </p:nvPr>
        </p:nvSpPr>
        <p:spPr>
          <a:xfrm>
            <a:off x="5042925" y="1489825"/>
            <a:ext cx="3878400" cy="3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/>
              <a:t>Lessons Learned</a:t>
            </a:r>
            <a:r>
              <a:rPr lang="en"/>
              <a:t>: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Clustering methodology is a </a:t>
            </a:r>
            <a:r>
              <a:rPr lang="en"/>
              <a:t>minefield, and sociologists need more guidance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Techniques for finding abstract patterns, such as schematic distance and lattice analysis, are ripe for theory-driven work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network survey data alone are too spotty for robust inductive typologizing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lack of clusterability could be considered a finding in itself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Initiative</a:t>
            </a:r>
            <a:endParaRPr/>
          </a:p>
        </p:txBody>
      </p:sp>
      <p:sp>
        <p:nvSpPr>
          <p:cNvPr id="106" name="Google Shape;106;p19"/>
          <p:cNvSpPr txBox="1"/>
          <p:nvPr>
            <p:ph idx="2" type="body"/>
          </p:nvPr>
        </p:nvSpPr>
        <p:spPr>
          <a:xfrm>
            <a:off x="477775" y="1489825"/>
            <a:ext cx="4163400" cy="3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Theoretical Weaving</a:t>
            </a:r>
            <a:endParaRPr b="1" sz="16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Distinctions that make a difference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Well known that personality interacts with network position and local configurations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Also established that tie strength and support correspond to access/proximity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And of course, “strength of weak ties”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Setting the scope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Given the research on life course and young adulthood, the context of our subjects implies a rather limited scope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But still, an interesting and important scope: </a:t>
            </a:r>
            <a:r>
              <a:rPr i="1" lang="en"/>
              <a:t>networks of high-achieving resident college students, about to enter early careers</a:t>
            </a:r>
            <a:endParaRPr i="1"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4959900" y="1489825"/>
            <a:ext cx="3999900" cy="33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Ongoing </a:t>
            </a:r>
            <a:r>
              <a:rPr b="1" lang="en" sz="1600"/>
              <a:t>Empirical Work</a:t>
            </a:r>
            <a:endParaRPr b="1" sz="16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Multiplex data from record linkage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Network surveys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At least 5 types of communication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Complete linkage in progress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Comparison of standard clustering methods (e.g., k-means) and various alternatives (e.g., schematic distance)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No conclusions yet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Also preparing for a nuanced conclusion that high-achieving resident college students defy reductive classification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Replicating Closest-Related Studies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87900" y="1337425"/>
            <a:ext cx="4336200" cy="36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Giannella &amp; Fischer (2016)</a:t>
            </a:r>
            <a:endParaRPr b="1" sz="16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NCCS Data from late ‘70s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1050 subjects in Bay Area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10-12 name generator questions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Multiple follow-up questions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Many related tie-oriented questions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Clustered using 43 hand-picked variables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Clustered </a:t>
            </a:r>
            <a:r>
              <a:rPr i="1" lang="en"/>
              <a:t>variables, </a:t>
            </a:r>
            <a:r>
              <a:rPr lang="en"/>
              <a:t>and pruned down to 21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Chose 7 reduced dimensions, and named them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Clustered </a:t>
            </a:r>
            <a:r>
              <a:rPr i="1" lang="en"/>
              <a:t>persons </a:t>
            </a:r>
            <a:r>
              <a:rPr lang="en"/>
              <a:t>by 7 dimensions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Chose 11 final clusters, and named them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Organized 11 clusters into 3 main types: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Kin-dominant (3)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Nonkin-dominant (2)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Small-network (2)</a:t>
            </a:r>
            <a:endParaRPr/>
          </a:p>
        </p:txBody>
      </p:sp>
      <p:sp>
        <p:nvSpPr>
          <p:cNvPr id="114" name="Google Shape;114;p20"/>
          <p:cNvSpPr txBox="1"/>
          <p:nvPr>
            <p:ph idx="2" type="body"/>
          </p:nvPr>
        </p:nvSpPr>
        <p:spPr>
          <a:xfrm>
            <a:off x="4756200" y="1696625"/>
            <a:ext cx="3999900" cy="33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43 select</a:t>
            </a:r>
            <a:r>
              <a:rPr lang="en"/>
              <a:t> variables encompassed: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Degree of support (</a:t>
            </a:r>
            <a:r>
              <a:rPr b="1" lang="en">
                <a:solidFill>
                  <a:schemeClr val="accent5"/>
                </a:solidFill>
              </a:rPr>
              <a:t>12</a:t>
            </a:r>
            <a:r>
              <a:rPr lang="en"/>
              <a:t>/13)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■"/>
            </a:pPr>
            <a:r>
              <a:rPr i="1" lang="en">
                <a:solidFill>
                  <a:schemeClr val="accent5"/>
                </a:solidFill>
              </a:rPr>
              <a:t>Pre-segmented by kin/nonkin</a:t>
            </a:r>
            <a:endParaRPr i="1">
              <a:solidFill>
                <a:schemeClr val="accent5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Geographic distance (</a:t>
            </a:r>
            <a:r>
              <a:rPr b="1" lang="en">
                <a:solidFill>
                  <a:schemeClr val="accent5"/>
                </a:solidFill>
              </a:rPr>
              <a:t>5</a:t>
            </a:r>
            <a:r>
              <a:rPr lang="en"/>
              <a:t>/5)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■"/>
            </a:pPr>
            <a:r>
              <a:rPr i="1" lang="en">
                <a:solidFill>
                  <a:schemeClr val="accent5"/>
                </a:solidFill>
              </a:rPr>
              <a:t>Pre-segmented by kin/nonkin</a:t>
            </a:r>
            <a:endParaRPr i="1">
              <a:solidFill>
                <a:schemeClr val="accent5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Homophily (3/6)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Pre-segmented by demographics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Contexts/foci (2/6)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Pre-set foci (e.g., work, church)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Social styles (0/5)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Pre-set locations for socializing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Tie strength or closeness (</a:t>
            </a:r>
            <a:r>
              <a:rPr b="1" lang="en">
                <a:solidFill>
                  <a:schemeClr val="accent5"/>
                </a:solidFill>
              </a:rPr>
              <a:t>0</a:t>
            </a:r>
            <a:r>
              <a:rPr lang="en"/>
              <a:t>/8)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Duration, frequency, closeness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Role/exchange multiplexity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i="1" lang="en"/>
              <a:t>Mostly pre-segmented by kin/nonkin</a:t>
            </a:r>
            <a:endParaRPr i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Replicating Closest-Related Studies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87900" y="1337425"/>
            <a:ext cx="41841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/>
              <a:t>Giannella &amp; Fischer (2016)</a:t>
            </a: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050" y="1832625"/>
            <a:ext cx="8087857" cy="30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Replicating Closest-Related Studies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87900" y="1337425"/>
            <a:ext cx="4184100" cy="37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Giannella &amp; Fischer (2016)</a:t>
            </a:r>
            <a:endParaRPr b="1"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Kin-dominant Type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Family-and-Community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Family-Only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Home-and-Church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Nonkin-dominant Type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Career-and-Friends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Energetic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Small-network Type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Untethered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Withdrawn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Residual</a:t>
            </a:r>
            <a:endParaRPr i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Semi-isolated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Nonkin-as-Kin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Sociable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Just Activities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2"/>
          <p:cNvSpPr txBox="1"/>
          <p:nvPr/>
        </p:nvSpPr>
        <p:spPr>
          <a:xfrm>
            <a:off x="4431700" y="1757625"/>
            <a:ext cx="3734400" cy="26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Convoy Model Comparison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Similar Types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Diverse and superficial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Socially-isolated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Friend or community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Family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Different Key Metrics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Self-assessed </a:t>
            </a:r>
            <a:r>
              <a:rPr b="1"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closeness 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central for Convoy model, but</a:t>
            </a:r>
            <a:r>
              <a:rPr i="1"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not used by Giannella &amp; Fischer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87900" y="77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Typology of “Personal Networks”</a:t>
            </a:r>
            <a:endParaRPr/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7525" y="1443650"/>
            <a:ext cx="5609049" cy="298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3"/>
          <p:cNvSpPr txBox="1"/>
          <p:nvPr/>
        </p:nvSpPr>
        <p:spPr>
          <a:xfrm>
            <a:off x="3626550" y="4712700"/>
            <a:ext cx="53256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Bidart, et al. 2018. “Personal Network Typologies.” </a:t>
            </a:r>
            <a:r>
              <a:rPr i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Social Networks</a:t>
            </a: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54: 1-11.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600" y="1072475"/>
            <a:ext cx="3304475" cy="373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713" y="1122625"/>
            <a:ext cx="8440572" cy="369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 txBox="1"/>
          <p:nvPr>
            <p:ph type="title"/>
          </p:nvPr>
        </p:nvSpPr>
        <p:spPr>
          <a:xfrm>
            <a:off x="387900" y="77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 Networks from Network Surveys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300" y="851025"/>
            <a:ext cx="5237146" cy="407557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5"/>
          <p:cNvSpPr txBox="1"/>
          <p:nvPr>
            <p:ph type="title"/>
          </p:nvPr>
        </p:nvSpPr>
        <p:spPr>
          <a:xfrm>
            <a:off x="387900" y="77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 Networks from Network Surveys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988" y="1092000"/>
            <a:ext cx="3785411" cy="3581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8200" y="1091988"/>
            <a:ext cx="4146826" cy="35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>
            <p:ph type="title"/>
          </p:nvPr>
        </p:nvSpPr>
        <p:spPr>
          <a:xfrm>
            <a:off x="387900" y="77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 Networks from Network Surveys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25" y="0"/>
            <a:ext cx="815374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